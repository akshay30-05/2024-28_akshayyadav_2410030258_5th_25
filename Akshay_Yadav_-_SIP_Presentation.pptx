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regular ns1:id="rIdFont19"/>
    </ns0:embeddedFont>
    <ns0:embeddedFont>
      <ns0:font typeface="JetBrains Mono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c09ce71b-d137-4da3-93f5-c6b63b1fa6f8.fntdata" /><ns0:Relationship Id="rIdFont19" Type="http://schemas.openxmlformats.org/officeDocument/2006/relationships/font" Target="fonts/cf75da21-cd5c-4be1-9df1-61218b6d9247.fntdata" /><ns0:Relationship Id="rIdFont20" Type="http://schemas.openxmlformats.org/officeDocument/2006/relationships/font" Target="fonts/cd775f72-62b7-42cc-88a9-ac5857b65b7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172075"/>
            <a:ext cx="10972800" cy="1076325"/>
          </a:xfrm>
          <a:prstGeom prst="roundRect">
            <a:avLst>
              <a:gd name="adj" fmla="val 10619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34500" y="609600"/>
            <a:ext cx="2247900" cy="285750"/>
          </a:xfrm>
          <a:prstGeom prst="roundRect">
            <a:avLst>
              <a:gd name="adj" fmla="val 50000"/>
            </a:avLst>
          </a:prstGeom>
          <a:solidFill>
            <a:srgbClr val="13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60800" y="5519737"/>
            <a:ext cx="9525" cy="381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21525" y="5519737"/>
            <a:ext cx="9525" cy="381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6953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86900" y="666750"/>
            <a:ext cx="2038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Academic Session 2026 - 2027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60364"/>
            <a:ext cx="11430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SUMMER INTERNSHIP REPORT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293739"/>
            <a:ext cx="9701212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8FAFC"/>
                </a:solidFill>
                <a:latin typeface="Plus Jakarta Sans"/>
              </a:rPr>
              <a:t>Front-End Web Development at Tripekart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535560"/>
            <a:ext cx="9239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Building scalable travel e-commerce components, interactive itineraries, dynamic filtering, and high-performance UI layers.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652462"/>
            <a:ext cx="3512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Plus Jakarta Sans"/>
              </a:rPr>
              <a:t>IILM UNIVERSITY, GREATER NOIDA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00675"/>
            <a:ext cx="3802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SUBMITTED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10225"/>
            <a:ext cx="3802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Akshay Yadav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48350"/>
            <a:ext cx="3802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Roll No: 2410030258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5125" y="5400675"/>
            <a:ext cx="3802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PROGRAM &amp; SEMESTER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125" y="5610225"/>
            <a:ext cx="3802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B.Tech CSE /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125" y="5848350"/>
            <a:ext cx="3802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5th Semester / 3rd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5850" y="5400675"/>
            <a:ext cx="3802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ORGANIZATION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5850" y="5610225"/>
            <a:ext cx="3802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Tripekart (tripekart.com)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5850" y="5848350"/>
            <a:ext cx="3802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May 2026 –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63517" y="2009775"/>
            <a:ext cx="5818882" cy="12573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63517" y="3419475"/>
            <a:ext cx="5818882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3517" y="4629150"/>
            <a:ext cx="5818882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63517" y="2009775"/>
            <a:ext cx="38100" cy="1257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3517" y="3419475"/>
            <a:ext cx="38100" cy="10572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3517" y="4629150"/>
            <a:ext cx="38100" cy="10572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38350"/>
            <a:ext cx="4849117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38350"/>
            <a:ext cx="4849117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96425" y="885825"/>
            <a:ext cx="26074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Plus Jakarta Sans"/>
              </a:rPr>
              <a:t>Domain: Travel &amp; Tourism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5345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ORGANIZATION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561320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Company Profile — Tripekart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2117" y="2200275"/>
            <a:ext cx="619988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Specialized Tourism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2117" y="2476500"/>
            <a:ext cx="5495032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Online travel platform offering group backpacking trips, weekend getaways, and customized itineraries across Spiti Valley, Ladakh, Himachal, and Meghalaya.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2117" y="3609975"/>
            <a:ext cx="619988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Core Platform Offerings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2117" y="3886200"/>
            <a:ext cx="549503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Delivers transparent pricing models, day-wise schedules, dynamic package filter engines, and seamless lead booking inquiries.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2117" y="4819650"/>
            <a:ext cx="619988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Technical Focus Areas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2117" y="5095875"/>
            <a:ext cx="549503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Responsive UI/UX design, interactive component trees, high-performance media delivery, and lead capture system integrations.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15025"/>
            <a:ext cx="10972800" cy="485775"/>
          </a:xfrm>
          <a:prstGeom prst="roundRect">
            <a:avLst>
              <a:gd name="adj" fmla="val 196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95575"/>
            <a:ext cx="2672953" cy="1590675"/>
          </a:xfrm>
          <a:prstGeom prst="roundRect">
            <a:avLst>
              <a:gd name="adj" fmla="val 958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5953" y="2305050"/>
            <a:ext cx="4559944" cy="2371725"/>
          </a:xfrm>
          <a:prstGeom prst="roundRect">
            <a:avLst>
              <a:gd name="adj" fmla="val 6425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09298" y="2695575"/>
            <a:ext cx="2672953" cy="1590675"/>
          </a:xfrm>
          <a:prstGeom prst="roundRect">
            <a:avLst>
              <a:gd name="adj" fmla="val 958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01703" y="3048000"/>
            <a:ext cx="3988444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01703" y="3514725"/>
            <a:ext cx="3988444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01703" y="3981450"/>
            <a:ext cx="3988444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953" y="3376612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298" y="3376612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6096000"/>
            <a:ext cx="1428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4626" y="3038475"/>
            <a:ext cx="3429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3374" y="3038475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9476" y="2628900"/>
            <a:ext cx="266700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103" y="3162300"/>
            <a:ext cx="1619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103" y="3629025"/>
            <a:ext cx="14287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4103" y="4095750"/>
            <a:ext cx="123825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SYSTEM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Tripekart Web System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6067425"/>
            <a:ext cx="7512843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Decoupled Client Architecture ensures high performance and rapid iteration speed.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6475" y="6081712"/>
            <a:ext cx="1821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CSE INTERNSHIP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88" y="3457575"/>
            <a:ext cx="2908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Plus Jakarta Sans"/>
              </a:rPr>
              <a:t>User / Browser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230" y="3771900"/>
            <a:ext cx="276969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Client Viewport &amp; DOM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1686" y="3457575"/>
            <a:ext cx="2908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Plus Jakarta Sans"/>
              </a:rPr>
              <a:t>REST APIs /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0928" y="3771900"/>
            <a:ext cx="276969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JSON Dynamic Data &amp;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2376" y="2628900"/>
            <a:ext cx="342542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40AF"/>
                </a:solidFill>
                <a:latin typeface="Plus Jakarta Sans"/>
              </a:rPr>
              <a:t>Tripekart Front-End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1278" y="3143250"/>
            <a:ext cx="3521719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React Component Trees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2228" y="3609975"/>
            <a:ext cx="3540769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Tailwind / CSS Layouts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3178" y="4076700"/>
            <a:ext cx="3559819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State Management (React Hooks)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76487"/>
            <a:ext cx="2571750" cy="2533650"/>
          </a:xfrm>
          <a:prstGeom prst="roundRect">
            <a:avLst>
              <a:gd name="adj" fmla="val 60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376487"/>
            <a:ext cx="2571750" cy="2533650"/>
          </a:xfrm>
          <a:prstGeom prst="roundRect">
            <a:avLst>
              <a:gd name="adj" fmla="val 60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376487"/>
            <a:ext cx="2571750" cy="2533650"/>
          </a:xfrm>
          <a:prstGeom prst="roundRect">
            <a:avLst>
              <a:gd name="adj" fmla="val 60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376487"/>
            <a:ext cx="2571750" cy="2533650"/>
          </a:xfrm>
          <a:prstGeom prst="roundRect">
            <a:avLst>
              <a:gd name="adj" fmla="val 60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6527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265271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265271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775" y="2652712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2776537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5712" y="2776537"/>
            <a:ext cx="1619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6062" y="2776537"/>
            <a:ext cx="16192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2776537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PROJECT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Internship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381000" y="6219825"/>
            <a:ext cx="12954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Primary Driving Goal: Direct improvement in user engagement and booking conversion 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300412"/>
            <a:ext cx="23002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Responsive Interface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833812"/>
            <a:ext cx="21907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Build intuitive UI components for package listings, detail views, and lead generation forms.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075" y="3300412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Cross-Device Polish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8075" y="3614737"/>
            <a:ext cx="21907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Ensure fluid mobile-first layouts using modern flexbox, CSS grids, and breakpoints.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3300412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REST API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8425" y="3614737"/>
            <a:ext cx="21907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Connect dynamic views with RESTful endpoints for live pricing and booking workflows.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8775" y="3300412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Code 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8775" y="3614737"/>
            <a:ext cx="21907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Minimize re-renders, optimize visual media, and maintain modular React components.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05500"/>
            <a:ext cx="10972800" cy="495300"/>
          </a:xfrm>
          <a:prstGeom prst="roundRect">
            <a:avLst>
              <a:gd name="adj" fmla="val 2307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33662"/>
            <a:ext cx="3505200" cy="1704975"/>
          </a:xfrm>
          <a:prstGeom prst="roundRect">
            <a:avLst>
              <a:gd name="adj" fmla="val 89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633662"/>
            <a:ext cx="3505200" cy="1704975"/>
          </a:xfrm>
          <a:prstGeom prst="roundRect">
            <a:avLst>
              <a:gd name="adj" fmla="val 89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633662"/>
            <a:ext cx="3505200" cy="1704975"/>
          </a:xfrm>
          <a:prstGeom prst="roundRect">
            <a:avLst>
              <a:gd name="adj" fmla="val 89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633662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2633662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77200" y="2633662"/>
            <a:ext cx="3505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57900"/>
            <a:ext cx="2190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DEVELOPMENT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Tools &amp; Tech Stack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6062662"/>
            <a:ext cx="7739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Plus Jakarta Sans"/>
              </a:rPr>
              <a:t>Modern industry-standard stack optimized for high-speed travel e-commerce platforms.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900362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Core Web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00362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Frameworks &amp; Styling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900362"/>
            <a:ext cx="388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Tools &amp;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271837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HTML5 &amp; CSS3: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Semantic structural markup &amp; flexbox layouts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748087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JavaScript (ES6+):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Async fetch calls, DOM logic &amp; dynamic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71837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React.js: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Reusable component trees, routing &amp; state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48087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Tailwind CSS: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Utility-first styling &amp; unified theme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800" y="3271837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Git &amp; GitHub: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Feature branching &amp; pull request code reviews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3748087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Postman &amp; DevTools: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REST API payload testing &amp; profile debugging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2262"/>
            <a:ext cx="2628900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2862262"/>
            <a:ext cx="2628900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2862262"/>
            <a:ext cx="2628900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2862262"/>
            <a:ext cx="2628900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" y="3071812"/>
            <a:ext cx="742950" cy="219075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90925" y="3071812"/>
            <a:ext cx="771525" cy="219075"/>
          </a:xfrm>
          <a:prstGeom prst="roundRect">
            <a:avLst>
              <a:gd name="adj" fmla="val 5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72225" y="3071812"/>
            <a:ext cx="752475" cy="219075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53525" y="3071812"/>
            <a:ext cx="981075" cy="2190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INTERNSHIP 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Month-Wise Work Summary (May – Aug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81000" y="6229350"/>
            <a:ext cx="12954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Structured sprint progression focused on incremental UI stability and component reuse.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3109912"/>
            <a:ext cx="647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376612"/>
            <a:ext cx="292536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Onboarding &amp; UI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6175" y="3109912"/>
            <a:ext cx="676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0925" y="3376612"/>
            <a:ext cx="292536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Modules &amp;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3109912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JULY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2225" y="3376612"/>
            <a:ext cx="292536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API &amp; Dynamic Filters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3109912"/>
            <a:ext cx="885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AUGUST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525" y="3376612"/>
            <a:ext cx="292536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Optimization &amp; 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3662362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Analyzed legacy codebase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3871912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Built buttons &amp; navbar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4081462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Standardized breakpoints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0925" y="3662362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Redesigned lead forms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0925" y="3871912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Regex phone/email checks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0925" y="4081462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Accordion itinerary 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2225" y="3662362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Connected live REST endpoints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3871912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Budget &amp; duration filters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2225" y="4081462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Modal state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525" y="3662362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Implemented native lazy loading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3525" y="3871912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Cross-browser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525" y="4081462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Developer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01440"/>
            <a:ext cx="6403925" cy="3293268"/>
          </a:xfrm>
          <a:prstGeom prst="roundRect">
            <a:avLst>
              <a:gd name="adj" fmla="val 347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80225" y="1964233"/>
            <a:ext cx="4302174" cy="1020960"/>
          </a:xfrm>
          <a:prstGeom prst="roundRect">
            <a:avLst>
              <a:gd name="adj" fmla="val 11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80225" y="3137594"/>
            <a:ext cx="4302174" cy="1020960"/>
          </a:xfrm>
          <a:prstGeom prst="roundRect">
            <a:avLst>
              <a:gd name="adj" fmla="val 11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80225" y="4310955"/>
            <a:ext cx="4302174" cy="1020960"/>
          </a:xfrm>
          <a:prstGeom prst="roundRect">
            <a:avLst>
              <a:gd name="adj" fmla="val 11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80225" y="1964233"/>
            <a:ext cx="38100" cy="1020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80225" y="3137594"/>
            <a:ext cx="38100" cy="1020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80225" y="4310955"/>
            <a:ext cx="38100" cy="10209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80125" y="223004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13475" y="223004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46825" y="223004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FEATURED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Interactive Itinerary Accordion Component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81000" y="6229350"/>
            <a:ext cx="12954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Deployed across primary tour package pages including Spiti Valley Backpacking and Ladakh Expeditions.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2544365"/>
            <a:ext cx="6118175" cy="25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F43F5E"/>
                </a:solidFill>
                <a:latin typeface="JetBrains Mono"/>
              </a:rPr>
              <a:t>const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 </a:t>
            </a:r>
            <a:r>
              <a:rPr b="0" sz="900" i="0" u="none">
                <a:solidFill>
                  <a:srgbClr val="E0F2FE"/>
                </a:solidFill>
                <a:latin typeface="JetBrains Mono"/>
              </a:rPr>
              <a:t>ItineraryAccordion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 = ({ dayNumber, title, description, highlights }) =&gt; { 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const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 [isOpen, setIsOpen] = </a:t>
            </a:r>
            <a:r>
              <a:rPr b="0" sz="900" i="0" u="none">
                <a:solidFill>
                  <a:srgbClr val="E0F2FE"/>
                </a:solidFill>
                <a:latin typeface="JetBrains Mono"/>
              </a:rPr>
              <a:t>useState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(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false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); 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return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 ( &lt;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div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 </a:t>
            </a:r>
            <a:r>
              <a:rPr b="0" sz="900" i="0" u="none">
                <a:solidFill>
                  <a:srgbClr val="A5F3FC"/>
                </a:solidFill>
                <a:latin typeface="JetBrains Mono"/>
              </a:rPr>
              <a:t>className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=</a:t>
            </a:r>
            <a:r>
              <a:rPr b="0" sz="900" i="0" u="none">
                <a:solidFill>
                  <a:srgbClr val="FEF08A"/>
                </a:solidFill>
                <a:latin typeface="JetBrains Mono"/>
              </a:rPr>
              <a:t>"border-b border-slate-200 my-2"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&gt; &lt;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button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 </a:t>
            </a:r>
            <a:r>
              <a:rPr b="0" sz="900" i="0" u="none">
                <a:solidFill>
                  <a:srgbClr val="A5F3FC"/>
                </a:solidFill>
                <a:latin typeface="JetBrains Mono"/>
              </a:rPr>
              <a:t>onClick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={() =&gt; </a:t>
            </a:r>
            <a:r>
              <a:rPr b="0" sz="900" i="0" u="none">
                <a:solidFill>
                  <a:srgbClr val="E0F2FE"/>
                </a:solidFill>
                <a:latin typeface="JetBrains Mono"/>
              </a:rPr>
              <a:t>setIsOpen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(!isOpen)} </a:t>
            </a:r>
            <a:r>
              <a:rPr b="0" sz="900" i="0" u="none">
                <a:solidFill>
                  <a:srgbClr val="A5F3FC"/>
                </a:solidFill>
                <a:latin typeface="JetBrains Mono"/>
              </a:rPr>
              <a:t>className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=</a:t>
            </a:r>
            <a:r>
              <a:rPr b="0" sz="900" i="0" u="none">
                <a:solidFill>
                  <a:srgbClr val="FEF08A"/>
                </a:solidFill>
                <a:latin typeface="JetBrains Mono"/>
              </a:rPr>
              <a:t>"w-full flex justify-between"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&gt; &lt;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span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&gt;Day {dayNumber}: {title}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span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&gt; &lt;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span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&gt;{isOpen ? </a:t>
            </a:r>
            <a:r>
              <a:rPr b="0" sz="900" i="0" u="none">
                <a:solidFill>
                  <a:srgbClr val="FEF08A"/>
                </a:solidFill>
                <a:latin typeface="JetBrains Mono"/>
              </a:rPr>
              <a:t>'-'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 : </a:t>
            </a:r>
            <a:r>
              <a:rPr b="0" sz="900" i="0" u="none">
                <a:solidFill>
                  <a:srgbClr val="FEF08A"/>
                </a:solidFill>
                <a:latin typeface="JetBrains Mono"/>
              </a:rPr>
              <a:t>'+'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}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span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&gt; 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button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&gt; {isOpen &amp;&amp; ( &lt;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div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 </a:t>
            </a:r>
            <a:r>
              <a:rPr b="0" sz="900" i="0" u="none">
                <a:solidFill>
                  <a:srgbClr val="A5F3FC"/>
                </a:solidFill>
                <a:latin typeface="JetBrains Mono"/>
              </a:rPr>
              <a:t>className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=</a:t>
            </a:r>
            <a:r>
              <a:rPr b="0" sz="900" i="0" u="none">
                <a:solidFill>
                  <a:srgbClr val="FEF08A"/>
                </a:solidFill>
                <a:latin typeface="JetBrains Mono"/>
              </a:rPr>
              <a:t>"p-4 bg-white text-slate-600"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&gt; &lt;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p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&gt;{description}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p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&gt; 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div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&gt; )} 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div</a:t>
            </a:r>
            <a:r>
              <a:rPr b="0" sz="900" i="0" u="none">
                <a:solidFill>
                  <a:srgbClr val="F43F5E"/>
                </a:solidFill>
                <a:latin typeface="JetBrains Mono"/>
              </a:rPr>
              <a:t>&gt; ); };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2191940"/>
            <a:ext cx="3417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ItineraryAccordion.jsx (React + Tailwind)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8825" y="2154733"/>
            <a:ext cx="468317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Conditional Rendering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8825" y="2421433"/>
            <a:ext cx="3978324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Utilizes state-driven conditional DOM node allocation to reduce memory usage during long tour browsing.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8825" y="3328094"/>
            <a:ext cx="468317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Zero Page Re-renders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8825" y="3594794"/>
            <a:ext cx="3978324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Expands and collapses day-wise schedules instantly without full page reloads or layout jumping.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8825" y="4501455"/>
            <a:ext cx="468317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Mobile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8825" y="4768155"/>
            <a:ext cx="3978324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Maintains fluid 60fps scrolling on low-end mobile hardware during complex itinerary views.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43137"/>
            <a:ext cx="5372100" cy="2809875"/>
          </a:xfrm>
          <a:prstGeom prst="roundRect">
            <a:avLst>
              <a:gd name="adj" fmla="val 54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243137"/>
            <a:ext cx="5372100" cy="2809875"/>
          </a:xfrm>
          <a:prstGeom prst="roundRect">
            <a:avLst>
              <a:gd name="adj" fmla="val 54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25" y="3052762"/>
            <a:ext cx="4895850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3967162"/>
            <a:ext cx="4895850" cy="809625"/>
          </a:xfrm>
          <a:prstGeom prst="roundRect">
            <a:avLst>
              <a:gd name="adj" fmla="val 9411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48425" y="3052762"/>
            <a:ext cx="4895850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8425" y="3967162"/>
            <a:ext cx="4895850" cy="800100"/>
          </a:xfrm>
          <a:prstGeom prst="roundRect">
            <a:avLst>
              <a:gd name="adj" fmla="val 9523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09850" y="4281487"/>
            <a:ext cx="1143000" cy="209550"/>
          </a:xfrm>
          <a:prstGeom prst="roundRect">
            <a:avLst>
              <a:gd name="adj" fmla="val 18181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519362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519362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624137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2624137"/>
            <a:ext cx="19050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PROBLEM SOLVING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Key Engineering Challenges &amp; 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81000" y="6229350"/>
            <a:ext cx="12954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Directly boosted lead intake accuracy while decreasing bounce rates on mobile landing pages.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3025" y="2600325"/>
            <a:ext cx="30753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Image-Heavy Load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75" y="3186112"/>
            <a:ext cx="5786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F4444"/>
                </a:solidFill>
                <a:latin typeface="Plus Jakarta Sans"/>
              </a:rPr>
              <a:t>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" y="3376612"/>
            <a:ext cx="4724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High-resolution gallery images caused slow page loads on mobile networks.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" y="4100512"/>
            <a:ext cx="5786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SOLUTION IMPLEMENTED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" y="4291012"/>
            <a:ext cx="472440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65F46"/>
                </a:solidFill>
                <a:latin typeface="Plus Jakarta Sans"/>
              </a:rPr>
              <a:t>Added native lazy loading (), WebP conversion, and fixed aspect ratios to prevent CLS.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3725" y="2600325"/>
            <a:ext cx="283785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Form State &amp;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3186112"/>
            <a:ext cx="56102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F4444"/>
                </a:solidFill>
                <a:latin typeface="Plus Jakarta Sans"/>
              </a:rPr>
              <a:t>CHALLENGE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3376612"/>
            <a:ext cx="4724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Multi-step lead forms allowed invalid contact inputs, degrading lead quality.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4100512"/>
            <a:ext cx="56102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SOLUTION IMPLEMENTED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1775" y="4291012"/>
            <a:ext cx="4724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65F46"/>
                </a:solidFill>
                <a:latin typeface="Plus Jakarta Sans"/>
              </a:rPr>
              <a:t>Wrote client-side Regex checks for phone/email and locked submit buttons until constraints passed.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47950" y="4300537"/>
            <a:ext cx="1162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65F46"/>
                </a:solidFill>
                <a:latin typeface="JetBrains Mono"/>
              </a:rPr>
              <a:t>loading="lazy"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15025"/>
            <a:ext cx="10972800" cy="485775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76512"/>
            <a:ext cx="3505200" cy="1828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576512"/>
            <a:ext cx="3505200" cy="1828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576512"/>
            <a:ext cx="3505200" cy="1828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576512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2576512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77200" y="2576512"/>
            <a:ext cx="3505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81312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81312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881312"/>
            <a:ext cx="28575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ACADEMIC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Key Learnings &amp; Takeaways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38125" y="6067425"/>
            <a:ext cx="12668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34155"/>
                </a:solidFill>
                <a:latin typeface="Plus Jakarta Sans"/>
              </a:rPr>
              <a:t>Successfully bridged classroom CSE concepts at IILM University with real-world industry execution.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224212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Production Code Standards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538537"/>
            <a:ext cx="3143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Gained hands-on practice structuring component trees, modular UI logic, and scalable folder organization.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24212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UI/UX Empathy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538537"/>
            <a:ext cx="3143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Understood how minor UI tweaks—like instant button feedback and dynamic hints—drive customer conversions.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3224212"/>
            <a:ext cx="388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Agile Team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800" y="3538537"/>
            <a:ext cx="3143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Participated in daily standups, Git pull request code reviews, and cross-functional sprint planning.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24237" y="3576637"/>
            <a:ext cx="5343525" cy="1152525"/>
          </a:xfrm>
          <a:prstGeom prst="roundRect">
            <a:avLst>
              <a:gd name="adj" fmla="val 13223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0" y="6057900"/>
            <a:ext cx="238125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56296" y="1938337"/>
            <a:ext cx="6679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Plus Jakarta Sans"/>
              </a:rPr>
              <a:t>IILM UNIVERSITY • B.TECH CSE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89311" y="2252662"/>
            <a:ext cx="7013376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8FAFC"/>
                </a:solidFill>
                <a:latin typeface="Plus Jakarta Sa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56296" y="3033712"/>
            <a:ext cx="66794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6903" y="6067425"/>
            <a:ext cx="4988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Department of Computer Science &amp; Engineering, IILM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9037" y="3805237"/>
            <a:ext cx="59174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BD5E1"/>
                </a:solidFill>
                <a:latin typeface="Plus Jakarta Sans"/>
              </a:rPr>
              <a:t>Student: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Akshay Yadav (Roll No: 2410030258)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9037" y="4062412"/>
            <a:ext cx="59174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BD5E1"/>
                </a:solidFill>
                <a:latin typeface="Plus Jakarta Sans"/>
              </a:rPr>
              <a:t>Guide: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Faculty Guide &amp; Head of Department (CSE)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9037" y="4319587"/>
            <a:ext cx="59174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BD5E1"/>
                </a:solidFill>
                <a:latin typeface="Plus Jakarta Sans"/>
              </a:rPr>
              <a:t>References: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Tripekart (tripekart.com) | MDN Web Docs | React.js Docs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8858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https://www.tripgurugo.com/wp-content/uploads/2026/06/SpitiValleyinJulyATravelGuideForTheBestExperience.webp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690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www.tripgurugo.com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